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258" r:id="rId3"/>
    <p:sldId id="259" r:id="rId4"/>
    <p:sldId id="916" r:id="rId5"/>
    <p:sldId id="899" r:id="rId6"/>
    <p:sldId id="283" r:id="rId7"/>
    <p:sldId id="901" r:id="rId8"/>
    <p:sldId id="902" r:id="rId9"/>
    <p:sldId id="903" r:id="rId10"/>
    <p:sldId id="904" r:id="rId11"/>
    <p:sldId id="905" r:id="rId12"/>
    <p:sldId id="906" r:id="rId13"/>
    <p:sldId id="907" r:id="rId14"/>
    <p:sldId id="908" r:id="rId15"/>
    <p:sldId id="909" r:id="rId16"/>
    <p:sldId id="910" r:id="rId17"/>
    <p:sldId id="911" r:id="rId18"/>
    <p:sldId id="912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14" autoAdjust="0"/>
    <p:restoredTop sz="96259"/>
  </p:normalViewPr>
  <p:slideViewPr>
    <p:cSldViewPr snapToGrid="0">
      <p:cViewPr varScale="1">
        <p:scale>
          <a:sx n="123" d="100"/>
          <a:sy n="123" d="100"/>
        </p:scale>
        <p:origin x="2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9B9445-96DC-4AB4-A40F-85886F464D9A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A43265-7A75-4135-A4AA-D7689694DF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5440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91A829-4876-F340-A480-249F10170759}" type="slidenum">
              <a:rPr kumimoji="1" lang="zh-CN" altLang="en-US" smtClean="0"/>
              <a:pPr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781096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平均块深度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块深度是指被</a:t>
                </a:r>
                <a:r>
                  <a:rPr lang="en" altLang="zh-CN" dirty="0"/>
                  <a:t>if/for/while</a:t>
                </a:r>
                <a:r>
                  <a:rPr lang="zh-CN" altLang="en-US" dirty="0"/>
                  <a:t>等包围的嵌套层次。嵌套越多，逻辑越复杂，代码可读性越差，构建和维护成本就越高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zh-CN" dirty="0"/>
                  <a:t>2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10</a:t>
                </a:r>
                <a:r>
                  <a:rPr lang="zh-CN" altLang="en-US" dirty="0"/>
                  <a:t>分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3-4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8</a:t>
                </a:r>
                <a:r>
                  <a:rPr lang="zh-CN" altLang="en-US" dirty="0"/>
                  <a:t>分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5-6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6</a:t>
                </a:r>
                <a:r>
                  <a:rPr lang="zh-CN" altLang="en-US" dirty="0"/>
                  <a:t>分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7-8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4</a:t>
                </a:r>
                <a:r>
                  <a:rPr lang="zh-CN" altLang="en-US" dirty="0"/>
                  <a:t>分</a:t>
                </a:r>
                <a:endParaRPr lang="en-US" altLang="zh-CN" dirty="0"/>
              </a:p>
              <a:p>
                <a:pPr lvl="1"/>
                <a:r>
                  <a:rPr kumimoji="1" lang="en-US" altLang="zh-CN" dirty="0"/>
                  <a:t>&gt;8</a:t>
                </a:r>
                <a:r>
                  <a:rPr kumimoji="1" lang="zh-CN" altLang="en-US" dirty="0"/>
                  <a:t>，</a:t>
                </a:r>
                <a:r>
                  <a:rPr kumimoji="1" lang="en-US" altLang="zh-CN" dirty="0"/>
                  <a:t>2</a:t>
                </a:r>
                <a:r>
                  <a:rPr kumimoji="1" lang="zh-CN" altLang="en-US" dirty="0"/>
                  <a:t>分</a:t>
                </a:r>
              </a:p>
              <a:p>
                <a:endParaRPr kumimoji="1" lang="zh-CN" alt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平均块深度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块深度是指被</a:t>
                </a:r>
                <a:r>
                  <a:rPr lang="en" altLang="zh-CN" dirty="0"/>
                  <a:t>if/for/while</a:t>
                </a:r>
                <a:r>
                  <a:rPr lang="zh-CN" altLang="en-US" dirty="0"/>
                  <a:t>等包围的嵌套层次。嵌套越多，逻辑越复杂，代码可读性越差，构建和维护成本就越高</a:t>
                </a:r>
                <a:endParaRPr lang="en-US" altLang="zh-CN" dirty="0"/>
              </a:p>
              <a:p>
                <a:pPr lvl="1"/>
                <a:r>
                  <a:rPr lang="en-US" altLang="zh-CN" b="0" i="0">
                    <a:latin typeface="Cambria Math" panose="02040503050406030204" pitchFamily="18" charset="0"/>
                  </a:rPr>
                  <a:t>≤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10</a:t>
                </a:r>
                <a:r>
                  <a:rPr lang="zh-CN" altLang="en-US" dirty="0"/>
                  <a:t>分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3-4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8</a:t>
                </a:r>
                <a:r>
                  <a:rPr lang="zh-CN" altLang="en-US" dirty="0"/>
                  <a:t>分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5-6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6</a:t>
                </a:r>
                <a:r>
                  <a:rPr lang="zh-CN" altLang="en-US" dirty="0"/>
                  <a:t>分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7-8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4</a:t>
                </a:r>
                <a:r>
                  <a:rPr lang="zh-CN" altLang="en-US" dirty="0"/>
                  <a:t>分</a:t>
                </a:r>
                <a:endParaRPr lang="en-US" altLang="zh-CN" dirty="0"/>
              </a:p>
              <a:p>
                <a:pPr lvl="1"/>
                <a:r>
                  <a:rPr kumimoji="1" lang="en-US" altLang="zh-CN" dirty="0"/>
                  <a:t>&gt;8</a:t>
                </a:r>
                <a:r>
                  <a:rPr kumimoji="1" lang="zh-CN" altLang="en-US" dirty="0"/>
                  <a:t>，</a:t>
                </a:r>
                <a:r>
                  <a:rPr kumimoji="1" lang="en-US" altLang="zh-CN" dirty="0"/>
                  <a:t>2</a:t>
                </a:r>
                <a:r>
                  <a:rPr kumimoji="1" lang="zh-CN" altLang="en-US" dirty="0"/>
                  <a:t>分</a:t>
                </a:r>
              </a:p>
              <a:p>
                <a:endParaRPr kumimoji="1"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EBE6A4-8D0B-2E4B-90EB-084265FD2A03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154162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在课上大家也学习了如何用数学语言描述问题。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A1AABA-86D5-6644-AD70-F902ACA33D48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173531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比如使用遗传算法的话，那么遗传算法中两个关键操作是什么，怎么进行的，都要写清楚。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流程图直观方便的看出大家的算法是什么。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最后，希望大家利用计算复杂性分析，分析比如遗传算法中变异操作的时间复杂度是多少。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A1AABA-86D5-6644-AD70-F902ACA33D48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10335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A1AABA-86D5-6644-AD70-F902ACA33D48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007714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用图表的方式展示结果，按照给的图表示例格式。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启发式算法中往往有多组参数在，需要对多组参数实验进行一个对比分析。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A1AABA-86D5-6644-AD70-F902ACA33D48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8660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格式分也很高。按照给的示例的格式来写参考文献。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A1AABA-86D5-6644-AD70-F902ACA33D48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52214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33A74-1FB5-40CE-8277-1CD10A3E92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0C8F434-A88C-449B-8DEE-0E7FB0071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0CB190-56D4-4994-A6BC-4FE03761F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91716-B2B4-4587-B7D2-B2F2C81FC354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70D9F7-6046-4DAD-A5AA-5A5FAFA82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64E080-F230-4B67-9CF9-3D3E479C3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6262-516A-4186-BA59-527B71EF1A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727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9CE07A-5B93-46FB-900D-31B5C92BA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5ACA45-85F4-49DB-A2DC-765D7712D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089432-D835-4630-99EE-DA888CFE5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91716-B2B4-4587-B7D2-B2F2C81FC354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775999-9D14-4190-9D67-5FE19E21E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F2D76C-96BF-4EFA-9070-4D4497C7C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6262-516A-4186-BA59-527B71EF1A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779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3642E9-CEEA-4724-B9A7-AB76F82B0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B25463-A39D-4710-8178-AEFBDB5E48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BB1FD5-FFA1-486C-A166-2379B74D7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91716-B2B4-4587-B7D2-B2F2C81FC354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36E926-7EBE-405D-B23D-FBEE39C92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270E74-8660-47A5-AC4A-1BE155292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6262-516A-4186-BA59-527B71EF1A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4585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5E0EAE-124C-40BF-AC2A-F255C7616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2D1D24-D16F-4393-A192-5394B0E575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ADA44B5-89E9-4E24-AEB9-D146C8D419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347F3D7-65A3-462C-869E-C5F8ED6B2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91716-B2B4-4587-B7D2-B2F2C81FC354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624B11-83A8-4342-8966-431D6A5CD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4D04500-C63F-4E64-9FD8-BFA7360F4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6262-516A-4186-BA59-527B71EF1A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1683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16262F-AF9E-4D0A-AD04-30F6D0E3F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58FE05-43D3-4300-9A71-173B75BB3F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1B927C6-309D-45EB-8DE8-3BE1B9BA28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4DA52C1-E560-4C33-917F-86635C60B1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042D466-D3A4-4CF4-87DC-8E6CAC400B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C50F750-80D7-4F1E-B667-BF09EC5FB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91716-B2B4-4587-B7D2-B2F2C81FC354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42ECCA8-369E-4922-AAFB-7B2C9964C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0C7B81D-83E9-45AF-87BB-566B30400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6262-516A-4186-BA59-527B71EF1A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6648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851546-CF00-4EC2-BAC8-B8D88F1C5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C9A15B9-2929-4AA8-AF61-C5E935EB5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91716-B2B4-4587-B7D2-B2F2C81FC354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347CBE3-BEE7-4EF1-A3D4-B6298DD34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E271B1-1B99-4B68-AB8A-42EA3B7E9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6262-516A-4186-BA59-527B71EF1A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4517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5395EAD-DC17-4F48-81F7-5200F2BE0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91716-B2B4-4587-B7D2-B2F2C81FC354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67E8300-BFB8-416E-A8D2-C85CBCA78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18660B-AA39-4D46-A63D-D2F38843B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6262-516A-4186-BA59-527B71EF1A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5360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F5C46E-30A7-4386-9CF5-5A6B7F428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88812D-CEB9-4E51-9BF9-46574946F5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D76225F-A661-4B88-BAE8-D6816DC5D2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3E43D2-7129-46EE-B689-3D56CC592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91716-B2B4-4587-B7D2-B2F2C81FC354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CBFD56-9361-4D9E-BA66-183CE4F50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5E768D-D68E-4BDC-B002-0AC58DBDE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6262-516A-4186-BA59-527B71EF1A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0422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F8ACB9-733F-4A1C-AE7B-DE81B617C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EF29AE6-7CDD-484F-8B46-03274E0A97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3060F59-0ACD-478D-851D-B9DF24C659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8ED49C-D19B-4F4D-B386-8F1D301EF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91716-B2B4-4587-B7D2-B2F2C81FC354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2BF2D39-4F77-4954-8036-D978A6B05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B109DA-9692-4A88-B9A4-981189469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6262-516A-4186-BA59-527B71EF1A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4758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7D220A-E2A5-4AF1-9CA2-C061BBFBB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D5548F5-A712-49E9-8369-2F155177EB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76D483-F889-463E-A500-23E783A8E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91716-B2B4-4587-B7D2-B2F2C81FC354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AF02AD-BB94-48E0-9F14-DE67929C7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6A0170-E3F8-4518-8957-9614A8F7E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6262-516A-4186-BA59-527B71EF1A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7774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652A54C-D4A0-42B0-97BA-E73481F2AA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D01AB5A-16FF-452A-AEB7-887B5352B7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1297EB-3E31-42E4-8E86-E0420A534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91716-B2B4-4587-B7D2-B2F2C81FC354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78ADED-6927-4BC0-A3D5-F8A56530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CA2117-B970-4119-9AA1-074DABAB3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6262-516A-4186-BA59-527B71EF1A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8683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34B1EF3-4933-48CB-BCB5-8C69F6FCC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3F2480-7BAF-4FFE-AB2B-ECCA473799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903F56-C41F-4AFC-AA0C-E9A8A0F0B3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591716-B2B4-4587-B7D2-B2F2C81FC354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EC0477-0DE4-468C-8C53-ED18A1A337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48224C-CF54-4FF6-A710-CF6803AAE1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6262-516A-4186-BA59-527B71EF1A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4765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3E8430-A7D7-3748-9829-1D83218053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 dirty="0"/>
              <a:t>最优化方法</a:t>
            </a:r>
          </a:p>
        </p:txBody>
      </p:sp>
    </p:spTree>
    <p:extLst>
      <p:ext uri="{BB962C8B-B14F-4D97-AF65-F5344CB8AC3E}">
        <p14:creationId xmlns:p14="http://schemas.microsoft.com/office/powerpoint/2010/main" val="2438038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358F77-EC63-A643-8A25-870DEEAA7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65D73A-5028-AF4A-93BE-A1590C137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大作业</a:t>
            </a:r>
            <a:endParaRPr kumimoji="1" lang="en-US" altLang="zh-CN" dirty="0"/>
          </a:p>
          <a:p>
            <a:r>
              <a:rPr kumimoji="1" lang="zh-CN" altLang="en-US" dirty="0"/>
              <a:t>评分标准</a:t>
            </a:r>
            <a:endParaRPr kumimoji="1" lang="en-US" altLang="zh-CN" dirty="0"/>
          </a:p>
          <a:p>
            <a:r>
              <a:rPr kumimoji="1" lang="zh-CN" altLang="en-US" dirty="0"/>
              <a:t>提交要求</a:t>
            </a:r>
          </a:p>
        </p:txBody>
      </p:sp>
    </p:spTree>
    <p:extLst>
      <p:ext uri="{BB962C8B-B14F-4D97-AF65-F5344CB8AC3E}">
        <p14:creationId xmlns:p14="http://schemas.microsoft.com/office/powerpoint/2010/main" val="1478110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526DDA-2574-F544-B1E4-2DBE4F459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大作业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CAD751-F935-E24F-9191-C23E25634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问题背景</a:t>
            </a:r>
            <a:endParaRPr kumimoji="1" lang="en-US" altLang="zh-CN" dirty="0"/>
          </a:p>
          <a:p>
            <a:r>
              <a:rPr kumimoji="1" lang="zh-CN" altLang="en-US" dirty="0"/>
              <a:t>问题描述</a:t>
            </a:r>
            <a:endParaRPr kumimoji="1" lang="en-US" altLang="zh-CN" dirty="0"/>
          </a:p>
          <a:p>
            <a:r>
              <a:rPr kumimoji="1" lang="zh-CN" altLang="en-US" dirty="0"/>
              <a:t>用例说明</a:t>
            </a:r>
          </a:p>
        </p:txBody>
      </p:sp>
    </p:spTree>
    <p:extLst>
      <p:ext uri="{BB962C8B-B14F-4D97-AF65-F5344CB8AC3E}">
        <p14:creationId xmlns:p14="http://schemas.microsoft.com/office/powerpoint/2010/main" val="775662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3951" y="494599"/>
            <a:ext cx="11648049" cy="7295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b="1" dirty="0">
                <a:latin typeface="+mn-ea"/>
              </a:rPr>
              <a:t>柔性作业车间调度问题（</a:t>
            </a:r>
            <a:r>
              <a:rPr lang="en-US" altLang="zh-CN" b="1" dirty="0">
                <a:latin typeface="+mn-ea"/>
              </a:rPr>
              <a:t>Flexible</a:t>
            </a:r>
            <a:r>
              <a:rPr lang="zh-CN" altLang="en-US" b="1" dirty="0">
                <a:latin typeface="+mn-ea"/>
              </a:rPr>
              <a:t> </a:t>
            </a:r>
            <a:r>
              <a:rPr lang="en-US" altLang="zh-CN" b="1" dirty="0">
                <a:latin typeface="+mn-ea"/>
              </a:rPr>
              <a:t>Job-shop Scheduling Problem</a:t>
            </a:r>
            <a:r>
              <a:rPr lang="zh-CN" altLang="en-US" b="1" dirty="0">
                <a:latin typeface="+mn-ea"/>
              </a:rPr>
              <a:t>）</a:t>
            </a:r>
            <a:endParaRPr lang="en-US" altLang="zh-CN" b="1" dirty="0">
              <a:latin typeface="+mn-ea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FE72FD4F-176B-B14E-ADE0-791B90B97525}"/>
              </a:ext>
            </a:extLst>
          </p:cNvPr>
          <p:cNvSpPr txBox="1">
            <a:spLocks/>
          </p:cNvSpPr>
          <p:nvPr/>
        </p:nvSpPr>
        <p:spPr>
          <a:xfrm>
            <a:off x="543951" y="1394529"/>
            <a:ext cx="10515600" cy="148113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一个加工系统有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m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台机器，要加工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n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种工件。每个工件包含一道或多道工序，工件的工序顺序是预先确定的；每道工序可以在多台不同的机器上加工，工序的加工时间随机器的性能不同而变化。</a:t>
            </a:r>
            <a:endParaRPr lang="en-US" altLang="zh-CN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86037F3-DA86-FC42-882E-AFD4AA484EC3}"/>
              </a:ext>
            </a:extLst>
          </p:cNvPr>
          <p:cNvSpPr txBox="1"/>
          <p:nvPr/>
        </p:nvSpPr>
        <p:spPr>
          <a:xfrm>
            <a:off x="543951" y="3619500"/>
            <a:ext cx="4383649" cy="1494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91B1F"/>
                </a:solidFill>
                <a:effectLst/>
                <a:uLnTx/>
                <a:uFillTx/>
                <a:latin typeface="-apple-system"/>
                <a:ea typeface="等线" panose="02010600030101010101" pitchFamily="2" charset="-122"/>
                <a:cs typeface="+mn-cs"/>
              </a:rPr>
              <a:t>决策每道工序的机器、每台机器上工序加工顺序。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191B1F"/>
              </a:solidFill>
              <a:effectLst/>
              <a:uLnTx/>
              <a:uFillTx/>
              <a:latin typeface="-apple-system"/>
              <a:ea typeface="等线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91B1F"/>
                </a:solidFill>
                <a:effectLst/>
                <a:uLnTx/>
                <a:uFillTx/>
                <a:latin typeface="-apple-system"/>
                <a:ea typeface="等线" panose="02010600030101010101" pitchFamily="2" charset="-122"/>
                <a:cs typeface="+mn-cs"/>
              </a:rPr>
              <a:t>目标是最小化总完工时间。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191B1F"/>
              </a:solidFill>
              <a:effectLst/>
              <a:uLnTx/>
              <a:uFillTx/>
              <a:latin typeface="-apple-system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16A47B8-A92C-D146-A653-C89FE74D2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904" y="3619500"/>
            <a:ext cx="6803345" cy="2227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947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6F7B88-4B0C-4947-812D-1096CDBF8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74" y="134937"/>
            <a:ext cx="10515600" cy="1325563"/>
          </a:xfrm>
        </p:spPr>
        <p:txBody>
          <a:bodyPr/>
          <a:lstStyle/>
          <a:p>
            <a:r>
              <a:rPr kumimoji="1" lang="zh-CN" altLang="en-US" dirty="0"/>
              <a:t>问题描述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702D81-EC54-464D-ACE8-CB7CA5966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973" y="1248237"/>
            <a:ext cx="11402961" cy="5609763"/>
          </a:xfrm>
        </p:spPr>
        <p:txBody>
          <a:bodyPr>
            <a:normAutofit/>
          </a:bodyPr>
          <a:lstStyle/>
          <a:p>
            <a:r>
              <a:rPr kumimoji="1" lang="zh-CN" altLang="en-US" sz="1800" dirty="0"/>
              <a:t>已知</a:t>
            </a:r>
            <a:endParaRPr kumimoji="1" lang="en-US" altLang="zh-CN" sz="1800" dirty="0"/>
          </a:p>
          <a:p>
            <a:pPr lvl="1"/>
            <a:r>
              <a:rPr lang="zh-CN" altLang="en-US" sz="1600" b="1" dirty="0">
                <a:solidFill>
                  <a:srgbClr val="0070C0"/>
                </a:solidFill>
              </a:rPr>
              <a:t>有 </a:t>
            </a:r>
            <a:r>
              <a:rPr lang="en" altLang="zh-CN" sz="1600" b="1" dirty="0">
                <a:solidFill>
                  <a:srgbClr val="FF0000"/>
                </a:solidFill>
              </a:rPr>
              <a:t>n </a:t>
            </a:r>
            <a:r>
              <a:rPr lang="zh-CN" altLang="en-US" sz="1600" b="1" dirty="0">
                <a:solidFill>
                  <a:srgbClr val="FF0000"/>
                </a:solidFill>
              </a:rPr>
              <a:t>个工件</a:t>
            </a:r>
            <a:r>
              <a:rPr lang="zh-CN" altLang="en-US" sz="1600" b="1" dirty="0">
                <a:solidFill>
                  <a:srgbClr val="0070C0"/>
                </a:solidFill>
              </a:rPr>
              <a:t>需要在 </a:t>
            </a:r>
            <a:r>
              <a:rPr lang="en" altLang="zh-CN" sz="1600" b="1" dirty="0">
                <a:solidFill>
                  <a:srgbClr val="FF0000"/>
                </a:solidFill>
              </a:rPr>
              <a:t>m </a:t>
            </a:r>
            <a:r>
              <a:rPr lang="zh-CN" altLang="en-US" sz="1600" b="1" dirty="0">
                <a:solidFill>
                  <a:srgbClr val="FF0000"/>
                </a:solidFill>
              </a:rPr>
              <a:t>台机器</a:t>
            </a:r>
            <a:r>
              <a:rPr lang="zh-CN" altLang="en-US" sz="1600" b="1" dirty="0">
                <a:solidFill>
                  <a:srgbClr val="0070C0"/>
                </a:solidFill>
              </a:rPr>
              <a:t>上进行加工</a:t>
            </a:r>
            <a:endParaRPr lang="en-US" altLang="zh-CN" sz="1600" b="1" dirty="0">
              <a:solidFill>
                <a:srgbClr val="0070C0"/>
              </a:solidFill>
            </a:endParaRPr>
          </a:p>
          <a:p>
            <a:pPr lvl="1"/>
            <a:r>
              <a:rPr lang="zh-CN" altLang="en-US" sz="1600" b="1" dirty="0">
                <a:solidFill>
                  <a:srgbClr val="0070C0"/>
                </a:solidFill>
              </a:rPr>
              <a:t>每个工件包含</a:t>
            </a:r>
            <a:r>
              <a:rPr lang="zh-CN" altLang="en-US" sz="1600" b="1" dirty="0">
                <a:solidFill>
                  <a:srgbClr val="FF0000"/>
                </a:solidFill>
              </a:rPr>
              <a:t>一道或多道工序</a:t>
            </a:r>
            <a:r>
              <a:rPr lang="zh-CN" altLang="en-US" sz="1600" b="1" dirty="0">
                <a:solidFill>
                  <a:srgbClr val="0070C0"/>
                </a:solidFill>
              </a:rPr>
              <a:t>，且各工件的工序</a:t>
            </a:r>
            <a:r>
              <a:rPr lang="zh-CN" altLang="en-US" sz="1600" b="1" dirty="0">
                <a:solidFill>
                  <a:srgbClr val="FF0000"/>
                </a:solidFill>
              </a:rPr>
              <a:t>顺序</a:t>
            </a:r>
            <a:r>
              <a:rPr lang="zh-CN" altLang="en-US" sz="1600" b="1" dirty="0">
                <a:solidFill>
                  <a:srgbClr val="0070C0"/>
                </a:solidFill>
              </a:rPr>
              <a:t>已预先</a:t>
            </a:r>
            <a:r>
              <a:rPr lang="zh-CN" altLang="en-US" sz="1600" b="1" dirty="0">
                <a:solidFill>
                  <a:srgbClr val="FF0000"/>
                </a:solidFill>
              </a:rPr>
              <a:t>确定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pPr lvl="1"/>
            <a:r>
              <a:rPr lang="zh-CN" altLang="en-US" sz="1600" b="1" dirty="0">
                <a:solidFill>
                  <a:srgbClr val="0070C0"/>
                </a:solidFill>
              </a:rPr>
              <a:t>不同工件的工序数量可以不同</a:t>
            </a:r>
            <a:endParaRPr lang="en-US" altLang="zh-CN" sz="1600" b="1" dirty="0">
              <a:solidFill>
                <a:srgbClr val="0070C0"/>
              </a:solidFill>
            </a:endParaRPr>
          </a:p>
          <a:p>
            <a:pPr lvl="1"/>
            <a:r>
              <a:rPr lang="zh-CN" altLang="en-US" sz="1600" b="1" dirty="0">
                <a:solidFill>
                  <a:srgbClr val="FF0000"/>
                </a:solidFill>
              </a:rPr>
              <a:t>每道工序</a:t>
            </a:r>
            <a:r>
              <a:rPr lang="zh-CN" altLang="en-US" sz="1600" b="1" dirty="0">
                <a:solidFill>
                  <a:srgbClr val="0070C0"/>
                </a:solidFill>
              </a:rPr>
              <a:t>对应一个可选机器集合，可从中</a:t>
            </a:r>
            <a:r>
              <a:rPr lang="zh-CN" altLang="en-US" sz="1600" b="1" dirty="0">
                <a:solidFill>
                  <a:srgbClr val="FF0000"/>
                </a:solidFill>
              </a:rPr>
              <a:t>选择一台机器进行加工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pPr lvl="1"/>
            <a:r>
              <a:rPr lang="zh-CN" altLang="en-US" sz="1600" b="1" dirty="0">
                <a:solidFill>
                  <a:srgbClr val="0070C0"/>
                </a:solidFill>
              </a:rPr>
              <a:t>工序一旦开始加工</a:t>
            </a:r>
            <a:r>
              <a:rPr lang="zh-CN" altLang="en-US" sz="1600" b="1" dirty="0">
                <a:solidFill>
                  <a:srgbClr val="FF0000"/>
                </a:solidFill>
              </a:rPr>
              <a:t>不可拆分或中断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pPr lvl="1"/>
            <a:r>
              <a:rPr lang="zh-CN" altLang="en-US" sz="1600" b="1" dirty="0">
                <a:solidFill>
                  <a:srgbClr val="0070C0"/>
                </a:solidFill>
              </a:rPr>
              <a:t>同一道工序在不同机器上的加工时间可能不同</a:t>
            </a:r>
            <a:endParaRPr lang="en-US" altLang="zh-CN" sz="1600" b="1" dirty="0">
              <a:solidFill>
                <a:srgbClr val="0070C0"/>
              </a:solidFill>
            </a:endParaRPr>
          </a:p>
          <a:p>
            <a:pPr lvl="1"/>
            <a:r>
              <a:rPr lang="zh-CN" altLang="en-US" sz="1600" b="1" dirty="0">
                <a:solidFill>
                  <a:srgbClr val="0070C0"/>
                </a:solidFill>
              </a:rPr>
              <a:t>每个工件在任一时刻只能在一台机器上加工</a:t>
            </a:r>
            <a:endParaRPr lang="en-US" altLang="zh-CN" sz="1600" b="1" dirty="0">
              <a:solidFill>
                <a:srgbClr val="0070C0"/>
              </a:solidFill>
            </a:endParaRPr>
          </a:p>
          <a:p>
            <a:pPr lvl="1"/>
            <a:r>
              <a:rPr lang="zh-CN" altLang="en-US" sz="1600" b="1" dirty="0">
                <a:solidFill>
                  <a:srgbClr val="0070C0"/>
                </a:solidFill>
              </a:rPr>
              <a:t>每台机器在任一时刻只能加工一道工序</a:t>
            </a:r>
            <a:endParaRPr lang="en-US" altLang="zh-CN" sz="1600" b="1" dirty="0">
              <a:solidFill>
                <a:srgbClr val="0070C0"/>
              </a:solidFill>
            </a:endParaRPr>
          </a:p>
          <a:p>
            <a:pPr lvl="1"/>
            <a:r>
              <a:rPr lang="zh-CN" altLang="en-US" sz="1600" b="1" dirty="0">
                <a:solidFill>
                  <a:srgbClr val="0070C0"/>
                </a:solidFill>
              </a:rPr>
              <a:t>所有工件在 </a:t>
            </a:r>
            <a:r>
              <a:rPr lang="en-US" altLang="zh-CN" sz="1600" b="1" dirty="0">
                <a:solidFill>
                  <a:srgbClr val="0070C0"/>
                </a:solidFill>
              </a:rPr>
              <a:t>0 </a:t>
            </a:r>
            <a:r>
              <a:rPr lang="zh-CN" altLang="en-US" sz="1600" b="1" dirty="0">
                <a:solidFill>
                  <a:srgbClr val="0070C0"/>
                </a:solidFill>
              </a:rPr>
              <a:t>时刻释放</a:t>
            </a:r>
            <a:endParaRPr lang="en-US" altLang="zh-CN" sz="1600" b="1" dirty="0">
              <a:solidFill>
                <a:srgbClr val="0070C0"/>
              </a:solidFill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CN" altLang="en-US" sz="1800" dirty="0"/>
              <a:t>决策</a:t>
            </a:r>
            <a:endParaRPr kumimoji="1" lang="en-US" altLang="zh-CN" sz="1800" dirty="0"/>
          </a:p>
          <a:p>
            <a:pPr lvl="1">
              <a:spcBef>
                <a:spcPts val="1000"/>
              </a:spcBef>
              <a:defRPr/>
            </a:pPr>
            <a:r>
              <a:rPr lang="zh-CN" altLang="en-US" sz="1600" b="1" dirty="0">
                <a:solidFill>
                  <a:srgbClr val="FF0000"/>
                </a:solidFill>
              </a:rPr>
              <a:t>每道工序选择的加工机器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pPr lvl="1">
              <a:spcBef>
                <a:spcPts val="1000"/>
              </a:spcBef>
              <a:defRPr/>
            </a:pPr>
            <a:r>
              <a:rPr lang="zh-CN" altLang="en-US" sz="1600" b="1" dirty="0">
                <a:solidFill>
                  <a:srgbClr val="FF0000"/>
                </a:solidFill>
              </a:rPr>
              <a:t>各机器上的工序加工顺序</a:t>
            </a:r>
            <a:endParaRPr kumimoji="1" lang="en-US" altLang="zh-CN" sz="1600" b="1" dirty="0">
              <a:solidFill>
                <a:srgbClr val="FF0000"/>
              </a:solidFill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CN" altLang="en-US" sz="1800" dirty="0"/>
              <a:t>目标</a:t>
            </a:r>
            <a:endParaRPr kumimoji="1" lang="en-US" altLang="zh-CN" sz="1800" dirty="0"/>
          </a:p>
          <a:p>
            <a:pPr lvl="1"/>
            <a:r>
              <a:rPr lang="zh-CN" altLang="en-US" sz="1600" b="1" dirty="0">
                <a:solidFill>
                  <a:srgbClr val="0070C0"/>
                </a:solidFill>
              </a:rPr>
              <a:t>给出调度方案，使所有工件的</a:t>
            </a:r>
            <a:r>
              <a:rPr lang="zh-CN" altLang="en-US" sz="1600" b="1" dirty="0">
                <a:solidFill>
                  <a:srgbClr val="FF0000"/>
                </a:solidFill>
              </a:rPr>
              <a:t>总完工时间</a:t>
            </a:r>
            <a:r>
              <a:rPr lang="zh-CN" altLang="en-US" sz="1600" b="1" dirty="0">
                <a:solidFill>
                  <a:srgbClr val="0070C0"/>
                </a:solidFill>
              </a:rPr>
              <a:t>（</a:t>
            </a:r>
            <a:r>
              <a:rPr lang="en-US" altLang="zh-CN" sz="1600" b="1" dirty="0" err="1">
                <a:solidFill>
                  <a:srgbClr val="0070C0"/>
                </a:solidFill>
              </a:rPr>
              <a:t>Makespan</a:t>
            </a:r>
            <a:r>
              <a:rPr lang="zh-CN" altLang="en-US" sz="1600" b="1" dirty="0">
                <a:solidFill>
                  <a:srgbClr val="0070C0"/>
                </a:solidFill>
              </a:rPr>
              <a:t>）最小</a:t>
            </a:r>
            <a:endParaRPr lang="en-US" altLang="zh-CN" sz="1600" b="1" dirty="0">
              <a:solidFill>
                <a:srgbClr val="0070C0"/>
              </a:solidFill>
            </a:endParaRPr>
          </a:p>
          <a:p>
            <a:pPr>
              <a:lnSpc>
                <a:spcPct val="110000"/>
              </a:lnSpc>
            </a:pPr>
            <a:r>
              <a:rPr kumimoji="1" lang="zh-CN" altLang="en-US" sz="1800" dirty="0"/>
              <a:t>要求</a:t>
            </a:r>
            <a:endParaRPr kumimoji="1" lang="en-US" altLang="zh-CN" sz="1800" dirty="0"/>
          </a:p>
          <a:p>
            <a:pPr lvl="1">
              <a:lnSpc>
                <a:spcPct val="110000"/>
              </a:lnSpc>
            </a:pPr>
            <a:r>
              <a:rPr lang="zh-CN" altLang="en-US" sz="1600" b="1" dirty="0">
                <a:solidFill>
                  <a:srgbClr val="0070C0"/>
                </a:solidFill>
              </a:rPr>
              <a:t>使用</a:t>
            </a:r>
            <a:r>
              <a:rPr lang="zh-CN" altLang="en-US" sz="1600" b="1" dirty="0">
                <a:solidFill>
                  <a:srgbClr val="FF0000"/>
                </a:solidFill>
              </a:rPr>
              <a:t>模拟退火算法</a:t>
            </a:r>
            <a:r>
              <a:rPr lang="zh-CN" altLang="en-US" sz="1600" b="1" dirty="0">
                <a:solidFill>
                  <a:srgbClr val="0070C0"/>
                </a:solidFill>
              </a:rPr>
              <a:t>进行求解</a:t>
            </a:r>
            <a:endParaRPr kumimoji="1" lang="en-US" altLang="zh-CN" sz="1600" dirty="0"/>
          </a:p>
          <a:p>
            <a:pPr lvl="1"/>
            <a:endParaRPr lang="en-US" altLang="zh-CN" sz="1600" b="1" dirty="0">
              <a:solidFill>
                <a:srgbClr val="FF0000"/>
              </a:solidFill>
            </a:endParaRPr>
          </a:p>
          <a:p>
            <a:pPr lvl="1"/>
            <a:endParaRPr lang="en-US" altLang="zh-CN" sz="1600" b="1" dirty="0">
              <a:solidFill>
                <a:srgbClr val="FF0000"/>
              </a:solidFill>
            </a:endParaRPr>
          </a:p>
          <a:p>
            <a:pPr lvl="1"/>
            <a:endParaRPr lang="en-US" altLang="zh-CN" sz="1600" b="1" dirty="0">
              <a:solidFill>
                <a:srgbClr val="0070C0"/>
              </a:solidFill>
            </a:endParaRPr>
          </a:p>
          <a:p>
            <a:pPr lvl="1"/>
            <a:endParaRPr lang="en-US" altLang="zh-CN" sz="1600" b="1" dirty="0">
              <a:solidFill>
                <a:srgbClr val="0070C0"/>
              </a:solidFill>
            </a:endParaRPr>
          </a:p>
          <a:p>
            <a:pPr lvl="1"/>
            <a:endParaRPr kumimoji="1" lang="en-US" altLang="zh-CN" sz="1600" dirty="0"/>
          </a:p>
          <a:p>
            <a:pPr lvl="1"/>
            <a:endParaRPr kumimoji="1"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586354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0323" y="193554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用例说明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5F77426-BB40-F342-8B72-635B31352553}"/>
              </a:ext>
            </a:extLst>
          </p:cNvPr>
          <p:cNvSpPr txBox="1"/>
          <p:nvPr/>
        </p:nvSpPr>
        <p:spPr>
          <a:xfrm>
            <a:off x="993058" y="3690388"/>
            <a:ext cx="60984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Instance</a:t>
            </a:r>
            <a:r>
              <a:rPr lang="zh-CN" altLang="en-US" sz="2000" dirty="0"/>
              <a:t> </a:t>
            </a:r>
            <a:r>
              <a:rPr lang="en-US" altLang="zh-CN" sz="2000" dirty="0"/>
              <a:t>0</a:t>
            </a:r>
          </a:p>
          <a:p>
            <a:r>
              <a:rPr lang="zh-CN" altLang="en-US" sz="2000" dirty="0"/>
              <a:t>最优</a:t>
            </a:r>
            <a:r>
              <a:rPr lang="en-US" altLang="zh-CN" sz="2000" dirty="0" err="1"/>
              <a:t>makespan</a:t>
            </a:r>
            <a:r>
              <a:rPr lang="zh-CN" altLang="en-US" sz="2000" dirty="0"/>
              <a:t>：468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010699B0-11CE-B345-A4AE-79A5C228F3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2913" y="511039"/>
            <a:ext cx="4831735" cy="583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997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77050A-4423-CB4C-A2EB-34498C275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评分标准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0F2835-4B67-334C-A62C-F8BCA5EEE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代码</a:t>
            </a:r>
            <a:endParaRPr kumimoji="1" lang="en-US" altLang="zh-CN" dirty="0"/>
          </a:p>
          <a:p>
            <a:r>
              <a:rPr kumimoji="1" lang="zh-CN" altLang="en-US" dirty="0"/>
              <a:t>报告</a:t>
            </a:r>
          </a:p>
        </p:txBody>
      </p:sp>
    </p:spTree>
    <p:extLst>
      <p:ext uri="{BB962C8B-B14F-4D97-AF65-F5344CB8AC3E}">
        <p14:creationId xmlns:p14="http://schemas.microsoft.com/office/powerpoint/2010/main" val="1198010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501089-253A-364A-B9ED-1A194CD0F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代码</a:t>
            </a:r>
            <a:r>
              <a:rPr kumimoji="1" lang="en-US" altLang="zh-CN" dirty="0"/>
              <a:t>-20</a:t>
            </a:r>
            <a:r>
              <a:rPr kumimoji="1" lang="zh-CN" altLang="en-US" dirty="0"/>
              <a:t>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67A6002-79D6-B04E-832B-056E85B57A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代码结果</a:t>
                </a:r>
                <a:r>
                  <a:rPr lang="en-US" altLang="zh-CN" dirty="0"/>
                  <a:t>-10</a:t>
                </a:r>
                <a:r>
                  <a:rPr lang="zh-CN" altLang="en-US" dirty="0"/>
                  <a:t>分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共</a:t>
                </a:r>
                <a:r>
                  <a:rPr lang="en-US" altLang="zh-CN" dirty="0"/>
                  <a:t>5</a:t>
                </a:r>
                <a:r>
                  <a:rPr lang="zh-CN" altLang="en-US" dirty="0"/>
                  <a:t>个测试用例（不包含示例）</a:t>
                </a:r>
                <a:endParaRPr lang="en-US" altLang="zh-CN" dirty="0"/>
              </a:p>
              <a:p>
                <a:pPr lvl="1"/>
                <a:r>
                  <a:rPr lang="zh-CN" altLang="en-US" b="0" dirty="0"/>
                  <a:t>每个用例得分：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𝑟𝑒𝑠𝑢𝑙𝑡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𝑟𝑒𝑠𝑢𝑙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𝑟𝑒𝑠𝑢𝑙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den>
                    </m:f>
                  </m:oMath>
                </a14:m>
                <a:endParaRPr lang="en-US" altLang="zh-CN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𝑟𝑒𝑠𝑢𝑙𝑡</m:t>
                    </m:r>
                  </m:oMath>
                </a14:m>
                <a:r>
                  <a:rPr lang="zh-CN" altLang="en-US" dirty="0"/>
                  <a:t>：代码运行结果</a:t>
                </a:r>
                <a:endParaRPr lang="en-US" altLang="zh-CN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𝑟𝑒𝑠𝑢𝑙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dirty="0"/>
                  <a:t>：参考值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每个用例最高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分，最低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分</a:t>
                </a:r>
                <a:endParaRPr lang="en-US" altLang="zh-CN" dirty="0"/>
              </a:p>
              <a:p>
                <a:pPr lvl="1"/>
                <a:endParaRPr kumimoji="1"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67A6002-79D6-B04E-832B-056E85B57A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7370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501089-253A-364A-B9ED-1A194CD0F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代码</a:t>
            </a:r>
            <a:r>
              <a:rPr kumimoji="1" lang="en-US" altLang="zh-CN" dirty="0"/>
              <a:t>-20</a:t>
            </a:r>
            <a:r>
              <a:rPr kumimoji="1" lang="zh-CN" altLang="en-US" dirty="0"/>
              <a:t>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7A6002-79D6-B04E-832B-056E85B57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注释率</a:t>
            </a:r>
            <a:r>
              <a:rPr lang="en-US" altLang="zh-CN" dirty="0"/>
              <a:t>-10</a:t>
            </a:r>
            <a:r>
              <a:rPr lang="zh-CN" altLang="en-US" dirty="0"/>
              <a:t>分</a:t>
            </a:r>
            <a:endParaRPr lang="en-US" altLang="zh-CN" dirty="0"/>
          </a:p>
          <a:p>
            <a:pPr lvl="1"/>
            <a:r>
              <a:rPr lang="zh-CN" altLang="en-US" dirty="0"/>
              <a:t>注释在一定程度可以帮助理解代码，提升可维护性。但需要注意不要加可有可无的注释。</a:t>
            </a:r>
            <a:endParaRPr lang="en-US" altLang="zh-CN" dirty="0"/>
          </a:p>
          <a:p>
            <a:pPr lvl="1"/>
            <a:r>
              <a:rPr lang="zh-CN" altLang="en-US" dirty="0"/>
              <a:t>单行注释</a:t>
            </a:r>
            <a:endParaRPr lang="en-US" altLang="zh-CN" dirty="0"/>
          </a:p>
          <a:p>
            <a:pPr lvl="1"/>
            <a:r>
              <a:rPr lang="en-US" altLang="zh-CN" dirty="0"/>
              <a:t>15%-25%</a:t>
            </a:r>
            <a:r>
              <a:rPr lang="zh-CN" altLang="en-US" dirty="0"/>
              <a:t>，最高</a:t>
            </a:r>
            <a:r>
              <a:rPr lang="en-US" altLang="zh-CN" dirty="0"/>
              <a:t>10</a:t>
            </a:r>
            <a:r>
              <a:rPr lang="zh-CN" altLang="en-US" dirty="0"/>
              <a:t>分</a:t>
            </a:r>
            <a:endParaRPr lang="en-US" altLang="zh-CN" dirty="0"/>
          </a:p>
          <a:p>
            <a:pPr lvl="1"/>
            <a:r>
              <a:rPr lang="en-US" altLang="zh-CN" dirty="0"/>
              <a:t>26%-40%</a:t>
            </a:r>
            <a:r>
              <a:rPr lang="zh-CN" altLang="en-US" dirty="0"/>
              <a:t>，最高</a:t>
            </a:r>
            <a:r>
              <a:rPr lang="en-US" altLang="zh-CN" dirty="0"/>
              <a:t>8</a:t>
            </a:r>
            <a:r>
              <a:rPr lang="zh-CN" altLang="en-US" dirty="0"/>
              <a:t>分</a:t>
            </a:r>
            <a:endParaRPr lang="en-US" altLang="zh-CN" dirty="0"/>
          </a:p>
          <a:p>
            <a:pPr lvl="1"/>
            <a:r>
              <a:rPr lang="en-US" altLang="zh-CN" dirty="0"/>
              <a:t>41%-50%</a:t>
            </a:r>
            <a:r>
              <a:rPr lang="zh-CN" altLang="en-US" dirty="0"/>
              <a:t>，最高</a:t>
            </a:r>
            <a:r>
              <a:rPr lang="en-US" altLang="zh-CN" dirty="0"/>
              <a:t>6</a:t>
            </a:r>
            <a:r>
              <a:rPr lang="zh-CN" altLang="en-US" dirty="0"/>
              <a:t>分</a:t>
            </a:r>
            <a:endParaRPr lang="en-US" altLang="zh-CN" dirty="0"/>
          </a:p>
          <a:p>
            <a:pPr lvl="1"/>
            <a:r>
              <a:rPr lang="en-US" altLang="zh-CN" dirty="0"/>
              <a:t>&gt;51%</a:t>
            </a:r>
            <a:r>
              <a:rPr lang="zh-CN" altLang="en-US" dirty="0"/>
              <a:t>，最高</a:t>
            </a:r>
            <a:r>
              <a:rPr lang="en-US" altLang="zh-CN" dirty="0"/>
              <a:t>4</a:t>
            </a:r>
            <a:r>
              <a:rPr lang="zh-CN" altLang="en-US" dirty="0"/>
              <a:t>分</a:t>
            </a:r>
            <a:endParaRPr lang="en-US" altLang="zh-CN" dirty="0"/>
          </a:p>
          <a:p>
            <a:pPr lvl="1"/>
            <a:r>
              <a:rPr lang="en-US" altLang="zh-CN" dirty="0"/>
              <a:t>&lt;14%</a:t>
            </a:r>
            <a:r>
              <a:rPr lang="zh-CN" altLang="en-US" dirty="0"/>
              <a:t>，最高</a:t>
            </a:r>
            <a:r>
              <a:rPr lang="en-US" altLang="zh-CN" dirty="0"/>
              <a:t>2</a:t>
            </a:r>
            <a:r>
              <a:rPr lang="zh-CN" altLang="en-US" dirty="0"/>
              <a:t>分</a:t>
            </a:r>
            <a:endParaRPr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46253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A91FA4-DC1B-CD4C-9939-C92CC4074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报告</a:t>
            </a:r>
            <a:r>
              <a:rPr kumimoji="1" lang="en-US" altLang="zh-CN" dirty="0"/>
              <a:t>-50</a:t>
            </a:r>
            <a:r>
              <a:rPr kumimoji="1" lang="zh-CN" altLang="en-US" dirty="0"/>
              <a:t>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B9C5C1-8092-894C-B383-A5B16F604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摘要</a:t>
            </a:r>
            <a:r>
              <a:rPr kumimoji="1" lang="en-US" altLang="zh-CN" dirty="0"/>
              <a:t>-5</a:t>
            </a:r>
            <a:r>
              <a:rPr kumimoji="1" lang="zh-CN" altLang="en-US" dirty="0"/>
              <a:t>分</a:t>
            </a:r>
            <a:endParaRPr kumimoji="1" lang="en-US" altLang="zh-CN" dirty="0"/>
          </a:p>
          <a:p>
            <a:r>
              <a:rPr kumimoji="1" lang="zh-CN" altLang="en-US" dirty="0"/>
              <a:t>引言</a:t>
            </a:r>
            <a:r>
              <a:rPr kumimoji="1" lang="en-US" altLang="zh-CN" dirty="0"/>
              <a:t>-5</a:t>
            </a:r>
            <a:r>
              <a:rPr kumimoji="1" lang="zh-CN" altLang="en-US" dirty="0"/>
              <a:t>分</a:t>
            </a:r>
            <a:endParaRPr kumimoji="1" lang="en-US" altLang="zh-CN" dirty="0"/>
          </a:p>
          <a:p>
            <a:r>
              <a:rPr kumimoji="1" lang="zh-CN" altLang="en-US" dirty="0"/>
              <a:t>算法设计</a:t>
            </a:r>
            <a:r>
              <a:rPr kumimoji="1" lang="en-US" altLang="zh-CN" dirty="0"/>
              <a:t>-10</a:t>
            </a:r>
            <a:r>
              <a:rPr kumimoji="1" lang="zh-CN" altLang="en-US" dirty="0"/>
              <a:t>分</a:t>
            </a:r>
            <a:endParaRPr kumimoji="1" lang="en-US" altLang="zh-CN" dirty="0"/>
          </a:p>
          <a:p>
            <a:r>
              <a:rPr kumimoji="1" lang="zh-CN" altLang="en-US" dirty="0"/>
              <a:t>实验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实验设置</a:t>
            </a:r>
            <a:r>
              <a:rPr kumimoji="1" lang="en-US" altLang="zh-CN" dirty="0"/>
              <a:t>-5</a:t>
            </a:r>
            <a:r>
              <a:rPr kumimoji="1" lang="zh-CN" altLang="en-US" dirty="0"/>
              <a:t>分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实验结果</a:t>
            </a:r>
            <a:r>
              <a:rPr kumimoji="1" lang="en-US" altLang="zh-CN" dirty="0"/>
              <a:t>-15</a:t>
            </a:r>
            <a:r>
              <a:rPr kumimoji="1" lang="zh-CN" altLang="en-US" dirty="0"/>
              <a:t>分</a:t>
            </a:r>
            <a:endParaRPr kumimoji="1" lang="en-US" altLang="zh-CN" dirty="0"/>
          </a:p>
          <a:p>
            <a:r>
              <a:rPr kumimoji="1" lang="zh-CN" altLang="en-US" dirty="0"/>
              <a:t>总结</a:t>
            </a:r>
            <a:r>
              <a:rPr kumimoji="1" lang="en-US" altLang="zh-CN" dirty="0"/>
              <a:t>-5</a:t>
            </a:r>
            <a:r>
              <a:rPr kumimoji="1" lang="zh-CN" altLang="en-US" dirty="0"/>
              <a:t>分</a:t>
            </a:r>
            <a:endParaRPr kumimoji="1" lang="en-US" altLang="zh-CN" dirty="0"/>
          </a:p>
          <a:p>
            <a:r>
              <a:rPr kumimoji="1" lang="zh-CN" altLang="en-US" dirty="0"/>
              <a:t>参考文献</a:t>
            </a:r>
            <a:r>
              <a:rPr kumimoji="1" lang="en-US" altLang="zh-CN" dirty="0"/>
              <a:t>-5</a:t>
            </a:r>
            <a:r>
              <a:rPr kumimoji="1" lang="zh-CN" altLang="en-US" dirty="0"/>
              <a:t>分</a:t>
            </a:r>
          </a:p>
        </p:txBody>
      </p:sp>
    </p:spTree>
    <p:extLst>
      <p:ext uri="{BB962C8B-B14F-4D97-AF65-F5344CB8AC3E}">
        <p14:creationId xmlns:p14="http://schemas.microsoft.com/office/powerpoint/2010/main" val="3628546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F059307E-16D1-524C-BAD8-4153652FF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06600"/>
            <a:ext cx="10363200" cy="28448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3935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2C6685A-5190-2347-AF82-DA4EBB263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830" y="2010541"/>
            <a:ext cx="11402223" cy="256145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749777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D6C57F2-945A-2344-B2CF-CFE7E4A84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00" y="2489200"/>
            <a:ext cx="11531600" cy="18796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455796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FFE9855-4B5E-A74E-8299-2F0C69898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2641600"/>
            <a:ext cx="10706100" cy="15748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676906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220D3B9-60D2-2A4B-9F5A-F2454D37D4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349" y="127319"/>
            <a:ext cx="9423301" cy="660336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477856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53A7FA0-C6CD-6B4B-A001-41E411EA8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456" y="2612313"/>
            <a:ext cx="9653088" cy="163337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682102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7795336-2FC3-CF47-83BC-F8B6204B3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2273300"/>
            <a:ext cx="11353800" cy="23114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443483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D524E6-0F31-194C-9823-9EE748275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提交要求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9EAEC7-208C-5140-9EB3-DB15BF7FF8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9850821" cy="4351338"/>
          </a:xfrm>
        </p:spPr>
        <p:txBody>
          <a:bodyPr/>
          <a:lstStyle/>
          <a:p>
            <a:r>
              <a:rPr kumimoji="1" lang="zh-CN" altLang="en-US" dirty="0"/>
              <a:t>截止时间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本学期结束前（</a:t>
            </a:r>
            <a:r>
              <a:rPr kumimoji="1" lang="en-US" altLang="zh-CN" dirty="0"/>
              <a:t>7.5</a:t>
            </a:r>
            <a:r>
              <a:rPr kumimoji="1" lang="zh-CN" altLang="en-US" dirty="0"/>
              <a:t>中午</a:t>
            </a:r>
            <a:r>
              <a:rPr kumimoji="1" lang="en-US" altLang="zh-CN" dirty="0"/>
              <a:t>12:00</a:t>
            </a:r>
            <a:r>
              <a:rPr kumimoji="1" lang="zh-CN" altLang="en-US" dirty="0"/>
              <a:t>前）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过期补交无效</a:t>
            </a:r>
            <a:endParaRPr kumimoji="1" lang="en-US" altLang="zh-CN" dirty="0"/>
          </a:p>
          <a:p>
            <a:r>
              <a:rPr kumimoji="1" lang="zh-CN" altLang="en-US" dirty="0"/>
              <a:t>提交方式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在乐学平台中提交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将文件打包为 学号</a:t>
            </a:r>
            <a:r>
              <a:rPr kumimoji="1" lang="en-US" altLang="zh-CN" dirty="0"/>
              <a:t>-</a:t>
            </a:r>
            <a:r>
              <a:rPr kumimoji="1" lang="zh-CN" altLang="en-US" dirty="0"/>
              <a:t>姓名</a:t>
            </a:r>
            <a:r>
              <a:rPr kumimoji="1" lang="en-US" altLang="zh-CN" dirty="0"/>
              <a:t>.zip</a:t>
            </a:r>
            <a:r>
              <a:rPr kumimoji="1" lang="zh-CN" altLang="en-US" dirty="0"/>
              <a:t> 格式</a:t>
            </a:r>
            <a:endParaRPr kumimoji="1" lang="en-US" altLang="zh-CN" dirty="0"/>
          </a:p>
          <a:p>
            <a:r>
              <a:rPr kumimoji="1" lang="zh-CN" altLang="en-US" dirty="0">
                <a:solidFill>
                  <a:srgbClr val="FF0000"/>
                </a:solidFill>
              </a:rPr>
              <a:t>严禁抄袭，抄袭不得分！</a:t>
            </a:r>
            <a:endParaRPr kumimoji="1"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599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669</Words>
  <Application>Microsoft Macintosh PowerPoint</Application>
  <PresentationFormat>宽屏</PresentationFormat>
  <Paragraphs>98</Paragraphs>
  <Slides>18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4" baseType="lpstr">
      <vt:lpstr>-apple-system</vt:lpstr>
      <vt:lpstr>等线</vt:lpstr>
      <vt:lpstr>等线 Light</vt:lpstr>
      <vt:lpstr>Arial</vt:lpstr>
      <vt:lpstr>Cambria Math</vt:lpstr>
      <vt:lpstr>Office 主题​​</vt:lpstr>
      <vt:lpstr>最优化方法</vt:lpstr>
      <vt:lpstr>目录</vt:lpstr>
      <vt:lpstr>大作业</vt:lpstr>
      <vt:lpstr>PowerPoint 演示文稿</vt:lpstr>
      <vt:lpstr>问题描述</vt:lpstr>
      <vt:lpstr>用例说明</vt:lpstr>
      <vt:lpstr>评分标准</vt:lpstr>
      <vt:lpstr>代码-20分</vt:lpstr>
      <vt:lpstr>代码-20分</vt:lpstr>
      <vt:lpstr>报告-50分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提交要求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最优化方法</dc:title>
  <dc:creator>靳 洪博</dc:creator>
  <cp:lastModifiedBy>玉卿 金</cp:lastModifiedBy>
  <cp:revision>9</cp:revision>
  <dcterms:created xsi:type="dcterms:W3CDTF">2021-05-18T05:55:32Z</dcterms:created>
  <dcterms:modified xsi:type="dcterms:W3CDTF">2026-03-26T14:09:54Z</dcterms:modified>
</cp:coreProperties>
</file>